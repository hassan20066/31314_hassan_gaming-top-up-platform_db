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3333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6276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0753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34018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3637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75559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90974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89766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87690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5355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600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5787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77964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71898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54762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91653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9304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E70F184-9EC9-449B-8D81-4D7A12D07567}" type="datetimeFigureOut">
              <a:rPr lang="ar-SA" smtClean="0"/>
              <a:t>28/01/1448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02161-FC59-44C8-901C-7898BD2A9C6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563294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AF94-42FA-C274-E286-02B79D08C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373" y="642552"/>
            <a:ext cx="8825658" cy="930876"/>
          </a:xfrm>
        </p:spPr>
        <p:txBody>
          <a:bodyPr/>
          <a:lstStyle/>
          <a:p>
            <a:r>
              <a:rPr lang="en-US" sz="3200" dirty="0">
                <a:solidFill>
                  <a:schemeClr val="bg2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Title &amp; Project Overview</a:t>
            </a:r>
            <a:endParaRPr lang="ar-SA" sz="3200" dirty="0">
              <a:solidFill>
                <a:schemeClr val="bg2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1FFE3-961C-369A-8E11-2DDAB8682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869989"/>
            <a:ext cx="8825658" cy="376881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Project Title: Automated Gaming Top-Up &amp; Database Management System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​Student Name: Hassan</a:t>
            </a:r>
            <a:endParaRPr lang="ar-SA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ID: 31314/2025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​Course Code: Computer Science - Advanced Database Systems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​Supervisor: Dr. Eric</a:t>
            </a:r>
            <a:endParaRPr lang="ar-SA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49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EEAA3-0C8A-84A2-6067-E9D448811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Project Objectives &amp; Scope</a:t>
            </a:r>
            <a:endParaRPr lang="ar-SA" dirty="0">
              <a:solidFill>
                <a:schemeClr val="bg2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3392A-BB59-E0F3-436C-C622734E7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​Aiming to design and implement a secure, scalable Oracle-based database infrastructure for gaming digital distribution.</a:t>
            </a:r>
          </a:p>
          <a:p>
            <a:pPr algn="l"/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​Provides seamless transactional processing for multi-platform game top-ups (PUBG Mobile, Free Fire, Call of Duty).</a:t>
            </a:r>
          </a:p>
          <a:p>
            <a:pPr algn="l"/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​Enforces strict computational data integrity, operational holiday tracking, and zero-redundancy normalization</a:t>
            </a:r>
            <a:endParaRPr lang="ar-SA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99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7409-901E-BDD2-A9A1-89663AB05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Requirements Analysis</a:t>
            </a:r>
            <a:endParaRPr lang="ar-SA" dirty="0">
              <a:solidFill>
                <a:schemeClr val="bg2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F8B2F-EC16-296B-7B3B-FD2C51AA2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​User Management: Secure profiles for Players containing history tracking and loyalty metadata.</a:t>
            </a:r>
          </a:p>
          <a:p>
            <a:pPr algn="l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​Catalog Control: Dynamically updated pricing logs for specific regional TopUp Items and Games.</a:t>
            </a:r>
          </a:p>
          <a:p>
            <a:pPr algn="l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​Order Execution: Fully automated verification logic managing payment status, order tracking, and public holiday compliance.</a:t>
            </a:r>
            <a:endParaRPr lang="ar-SA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94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1C3D-83B4-43EB-9A10-7C0CD1D96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6200"/>
            <a:ext cx="6096000" cy="1262743"/>
          </a:xfrm>
        </p:spPr>
        <p:txBody>
          <a:bodyPr/>
          <a:lstStyle/>
          <a:p>
            <a:r>
              <a:rPr lang="en-US" sz="4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Problem Statement &amp; Solutions</a:t>
            </a:r>
            <a:endParaRPr lang="ar-SA" sz="4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149B1-3213-701D-9A02-8C4D16DB0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489858"/>
            <a:ext cx="11005457" cy="4751614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High Demand: Rapid growth in Rwanda's gaming and esports market for automated digital currency.</a:t>
            </a:r>
          </a:p>
          <a:p>
            <a:pPr algn="l"/>
            <a:r>
              <a:rPr lang="en-US" sz="2000" dirty="0"/>
              <a:t>​Manual Bottlenecks: Heavy reliance on scattered text messages and manual broker verification.</a:t>
            </a:r>
          </a:p>
          <a:p>
            <a:pPr algn="l"/>
            <a:r>
              <a:rPr lang="en-US" sz="2000" dirty="0"/>
              <a:t>​System Risks: Frequent transaction delays, product </a:t>
            </a:r>
            <a:r>
              <a:rPr lang="en-US" sz="2000" dirty="0" err="1"/>
              <a:t>misdelivery</a:t>
            </a:r>
            <a:r>
              <a:rPr lang="en-US" sz="2000" dirty="0"/>
              <a:t>, and critical data loss due to a lack of centralized logs.</a:t>
            </a:r>
          </a:p>
          <a:p>
            <a:pPr algn="l"/>
            <a:r>
              <a:rPr lang="en-US" sz="2000" dirty="0"/>
              <a:t>​The Solution: A secure, automated relational database that ensures instant, error-free game top-ups.</a:t>
            </a:r>
            <a:endParaRPr lang="ar-SA" sz="2000" dirty="0"/>
          </a:p>
        </p:txBody>
      </p:sp>
    </p:spTree>
    <p:extLst>
      <p:ext uri="{BB962C8B-B14F-4D97-AF65-F5344CB8AC3E}">
        <p14:creationId xmlns:p14="http://schemas.microsoft.com/office/powerpoint/2010/main" val="318792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AC4E-8CD0-FB68-E00E-9E9DDC89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77686"/>
            <a:ext cx="5593972" cy="5783492"/>
          </a:xfrm>
        </p:spPr>
        <p:txBody>
          <a:bodyPr/>
          <a:lstStyle/>
          <a:p>
            <a:r>
              <a:rPr lang="en-US" sz="2800" dirty="0"/>
              <a:t>Business Process Modeling: Mapped full operational workflows using structured BPMN </a:t>
            </a:r>
            <a:r>
              <a:rPr lang="en-US" sz="2800" dirty="0" err="1"/>
              <a:t>swimlanes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​Logical Database Design: Developed a comprehensive 5-entity relational schema (Games, Players, TopUp Items, Orders, Holidays).</a:t>
            </a:r>
            <a:br>
              <a:rPr lang="en-US" sz="2800" dirty="0"/>
            </a:br>
            <a:r>
              <a:rPr lang="en-US" sz="2800" dirty="0"/>
              <a:t>​Data Integrity (3NF): Applied complete mathematical normalization up to Third Normal Form (3NF).</a:t>
            </a:r>
            <a:endParaRPr lang="ar-SA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36628-C684-6880-0C1C-D1D9873D8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2352" y="-2590939"/>
            <a:ext cx="4396338" cy="576262"/>
          </a:xfrm>
        </p:spPr>
        <p:txBody>
          <a:bodyPr/>
          <a:lstStyle/>
          <a:p>
            <a:endParaRPr lang="ar-SA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86A2969-8855-A8AD-DB49-19828FF4DA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560" y="3756025"/>
            <a:ext cx="5343230" cy="3101975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8C58F3-5308-11CC-8F53-5DDD08542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0" y="76654"/>
            <a:ext cx="5593972" cy="772432"/>
          </a:xfrm>
        </p:spPr>
        <p:txBody>
          <a:bodyPr/>
          <a:lstStyle/>
          <a:p>
            <a:pPr algn="l"/>
            <a:r>
              <a:rPr lang="en-US" sz="2800" dirty="0"/>
              <a:t>Methodology &amp; Logical Design</a:t>
            </a:r>
            <a:endParaRPr lang="ar-SA" sz="28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9502DD-D0DB-D933-ED80-FE45DCC2B6C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559" y="76200"/>
            <a:ext cx="5343231" cy="3560763"/>
          </a:xfrm>
        </p:spPr>
      </p:pic>
    </p:spTree>
    <p:extLst>
      <p:ext uri="{BB962C8B-B14F-4D97-AF65-F5344CB8AC3E}">
        <p14:creationId xmlns:p14="http://schemas.microsoft.com/office/powerpoint/2010/main" val="87276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A9E5-B279-FBED-17BB-172C58CA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95996" cy="1289957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Physical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Design &amp; Oracle Implementation</a:t>
            </a:r>
            <a:endParaRPr lang="ar-SA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DAEC7C-5662-5CD8-B39F-406A17A2D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663" y="1289957"/>
            <a:ext cx="5356225" cy="446694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3236E-5CB5-42CD-1B36-E05CC1390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" y="1289957"/>
            <a:ext cx="5355770" cy="5568043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​Transformed logical models into operational SQL deployment packages under Oracle database infrastructure.</a:t>
            </a:r>
          </a:p>
          <a:p>
            <a:pPr algn="l"/>
            <a:r>
              <a:rPr lang="en-US" sz="2800" dirty="0"/>
              <a:t>​Enforced physical relational schema constraints, primary keys (PK), and cross-table foreign keys (FK).</a:t>
            </a:r>
            <a:endParaRPr lang="ar-SA" sz="2800" dirty="0"/>
          </a:p>
        </p:txBody>
      </p:sp>
    </p:spTree>
    <p:extLst>
      <p:ext uri="{BB962C8B-B14F-4D97-AF65-F5344CB8AC3E}">
        <p14:creationId xmlns:p14="http://schemas.microsoft.com/office/powerpoint/2010/main" val="1595320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87DB-C8F7-0FC8-A26E-BA4659DEC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38" y="109221"/>
            <a:ext cx="4495077" cy="1447800"/>
          </a:xfrm>
        </p:spPr>
        <p:txBody>
          <a:bodyPr/>
          <a:lstStyle/>
          <a:p>
            <a:r>
              <a:rPr lang="en-US" sz="4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Population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of Tables &amp; Test Data</a:t>
            </a:r>
            <a:endParaRPr lang="ar-SA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13C320-51E9-7159-3035-8346F4D11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886" y="734785"/>
            <a:ext cx="5421934" cy="542108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92CE0-A0FB-AD15-ACD4-1646B9E35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557021"/>
            <a:ext cx="4556017" cy="5191758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​Seeded the database with clean, realistic operational records across all relational tables.</a:t>
            </a:r>
          </a:p>
          <a:p>
            <a:pPr algn="l"/>
            <a:r>
              <a:rPr lang="en-US" sz="3200" dirty="0"/>
              <a:t>​Validated referential integrity constraints during bulk data entry and records creation.</a:t>
            </a:r>
            <a:endParaRPr lang="ar-SA" sz="3200" dirty="0"/>
          </a:p>
        </p:txBody>
      </p:sp>
    </p:spTree>
    <p:extLst>
      <p:ext uri="{BB962C8B-B14F-4D97-AF65-F5344CB8AC3E}">
        <p14:creationId xmlns:p14="http://schemas.microsoft.com/office/powerpoint/2010/main" val="116680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F8A6A-2C2C-9412-2953-E6DFC442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5012871" cy="14478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Queries &amp; Advanced Implementation</a:t>
            </a:r>
            <a:endParaRPr lang="ar-SA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2B729A-4BCD-F2FA-3304-D08AA58BD0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16" y="723900"/>
            <a:ext cx="5588455" cy="55626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B824C-9741-99B8-48B2-5073B8B05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1" y="1447800"/>
            <a:ext cx="4784617" cy="4838700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​Developed robust SQL queries utilizing multi-table JOIN statements and conditional data aggregations.</a:t>
            </a:r>
          </a:p>
          <a:p>
            <a:pPr algn="l"/>
            <a:r>
              <a:rPr lang="en-US" sz="2800" dirty="0"/>
              <a:t>​Extended database programming features by implementing custom database PL/SQL Functions and Triggers to automate process flows.</a:t>
            </a:r>
            <a:endParaRPr lang="ar-SA" sz="2800" dirty="0"/>
          </a:p>
        </p:txBody>
      </p:sp>
    </p:spTree>
    <p:extLst>
      <p:ext uri="{BB962C8B-B14F-4D97-AF65-F5344CB8AC3E}">
        <p14:creationId xmlns:p14="http://schemas.microsoft.com/office/powerpoint/2010/main" val="135617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2E9E0-FF65-9210-AD4C-2733AA9F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217350"/>
            <a:ext cx="4784616" cy="1338579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Innovation Component (Power BI Dashboard)</a:t>
            </a:r>
            <a:endParaRPr lang="ar-SA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1561DD-1A2E-E528-85A0-DB0140479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724" y="0"/>
            <a:ext cx="7407275" cy="6858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F5BB4-8DA6-19C7-868A-8E960560A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447800"/>
            <a:ext cx="4784615" cy="5300979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​Integrated the system's operational backend dataset with Microsoft Power BI for live executive business intelligence.</a:t>
            </a:r>
          </a:p>
          <a:p>
            <a:pPr algn="l"/>
            <a:r>
              <a:rPr lang="en-US" sz="2800" dirty="0"/>
              <a:t>​Generates real-time analytical insights tracking total revenue and revenue distribution across active titles.</a:t>
            </a:r>
            <a:endParaRPr lang="ar-SA" sz="2800" dirty="0"/>
          </a:p>
        </p:txBody>
      </p:sp>
    </p:spTree>
    <p:extLst>
      <p:ext uri="{BB962C8B-B14F-4D97-AF65-F5344CB8AC3E}">
        <p14:creationId xmlns:p14="http://schemas.microsoft.com/office/powerpoint/2010/main" val="792918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3143D-707A-EA1F-27D4-BA2C07735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825659" cy="19812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Conclusion &amp; Future Enhancements</a:t>
            </a:r>
            <a:endParaRPr lang="ar-SA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AE29A-9D32-F491-96D5-6BAD9E9C4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649185"/>
            <a:ext cx="9980613" cy="3004457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​Conclusion: Designed and fully implemented a production-ready, fully normalized (3NF) relational database for automated game top-ups under Oracle environment.</a:t>
            </a:r>
          </a:p>
          <a:p>
            <a:pPr algn="l"/>
            <a:r>
              <a:rPr lang="en-US" sz="2400" dirty="0"/>
              <a:t>​Future Work: Planning to deploy a live web front-end application interface and integrate direct automated payment gateways (Visa/Mastercard/Apple Pay).</a:t>
            </a:r>
            <a:endParaRPr lang="ar-SA" sz="2400" dirty="0"/>
          </a:p>
        </p:txBody>
      </p:sp>
    </p:spTree>
    <p:extLst>
      <p:ext uri="{BB962C8B-B14F-4D97-AF65-F5344CB8AC3E}">
        <p14:creationId xmlns:p14="http://schemas.microsoft.com/office/powerpoint/2010/main" val="1392163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672</TotalTime>
  <Words>488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Century Gothic</vt:lpstr>
      <vt:lpstr>Helvetica</vt:lpstr>
      <vt:lpstr>Wingdings 3</vt:lpstr>
      <vt:lpstr>Ion</vt:lpstr>
      <vt:lpstr>Title &amp; Project Overview</vt:lpstr>
      <vt:lpstr>Project Objectives &amp; Scope</vt:lpstr>
      <vt:lpstr>Requirements Analysis</vt:lpstr>
      <vt:lpstr>Problem Statement &amp; Solutions</vt:lpstr>
      <vt:lpstr>Business Process Modeling: Mapped full operational workflows using structured BPMN swimlanes. ​Logical Database Design: Developed a comprehensive 5-entity relational schema (Games, Players, TopUp Items, Orders, Holidays). ​Data Integrity (3NF): Applied complete mathematical normalization up to Third Normal Form (3NF).</vt:lpstr>
      <vt:lpstr>Physical Design &amp; Oracle Implementation</vt:lpstr>
      <vt:lpstr>Population of Tables &amp; Test Data</vt:lpstr>
      <vt:lpstr>Queries &amp; Advanced Implementation</vt:lpstr>
      <vt:lpstr>Innovation Component (Power BI Dashboard)</vt:lpstr>
      <vt:lpstr>Conclusion &amp; 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saber</dc:creator>
  <cp:lastModifiedBy>hassan saber</cp:lastModifiedBy>
  <cp:revision>1</cp:revision>
  <dcterms:created xsi:type="dcterms:W3CDTF">2026-07-13T18:47:34Z</dcterms:created>
  <dcterms:modified xsi:type="dcterms:W3CDTF">2026-07-14T05:59:36Z</dcterms:modified>
</cp:coreProperties>
</file>