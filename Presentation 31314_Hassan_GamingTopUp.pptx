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65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6" d="100"/>
          <a:sy n="96" d="100"/>
        </p:scale>
        <p:origin x="13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233333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6276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80753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334018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636375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975559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290974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389766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087690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5355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96003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857871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7779649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8718983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547624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091653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93041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3E70F184-9EC9-449B-8D81-4D7A12D07567}" type="datetimeFigureOut">
              <a:rPr lang="ar-SA" smtClean="0"/>
              <a:t>28/01/1448</a:t>
            </a:fld>
            <a:endParaRPr lang="ar-S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ar-S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402161-FC59-44C8-901C-7898BD2A9C6B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95632945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</p:sldLayoutIdLst>
  <p:txStyles>
    <p:titleStyle>
      <a:lvl1pPr algn="l" defTabSz="457200" rtl="1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rtl="1" eaLnBrk="1" hangingPunct="1">
        <a:defRPr>
          <a:solidFill>
            <a:schemeClr val="tx2"/>
          </a:solidFill>
        </a:defRPr>
      </a:lvl2pPr>
      <a:lvl3pPr rtl="1" eaLnBrk="1" hangingPunct="1">
        <a:defRPr>
          <a:solidFill>
            <a:schemeClr val="tx2"/>
          </a:solidFill>
        </a:defRPr>
      </a:lvl3pPr>
      <a:lvl4pPr rtl="1" eaLnBrk="1" hangingPunct="1">
        <a:defRPr>
          <a:solidFill>
            <a:schemeClr val="tx2"/>
          </a:solidFill>
        </a:defRPr>
      </a:lvl4pPr>
      <a:lvl5pPr rtl="1" eaLnBrk="1" hangingPunct="1">
        <a:defRPr>
          <a:solidFill>
            <a:schemeClr val="tx2"/>
          </a:solidFill>
        </a:defRPr>
      </a:lvl5pPr>
      <a:lvl6pPr rtl="1" eaLnBrk="1" hangingPunct="1">
        <a:defRPr>
          <a:solidFill>
            <a:schemeClr val="tx2"/>
          </a:solidFill>
        </a:defRPr>
      </a:lvl6pPr>
      <a:lvl7pPr rtl="1" eaLnBrk="1" hangingPunct="1">
        <a:defRPr>
          <a:solidFill>
            <a:schemeClr val="tx2"/>
          </a:solidFill>
        </a:defRPr>
      </a:lvl7pPr>
      <a:lvl8pPr rtl="1" eaLnBrk="1" hangingPunct="1">
        <a:defRPr>
          <a:solidFill>
            <a:schemeClr val="tx2"/>
          </a:solidFill>
        </a:defRPr>
      </a:lvl8pPr>
      <a:lvl9pPr rtl="1" eaLnBrk="1" hangingPunct="1">
        <a:defRPr>
          <a:solidFill>
            <a:schemeClr val="tx2"/>
          </a:solidFill>
        </a:defRPr>
      </a:lvl9pPr>
    </p:titleStyle>
    <p:bodyStyle>
      <a:lvl1pPr marL="342900" indent="-3429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8AF94-42FA-C274-E286-02B79D08CB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373" y="642552"/>
            <a:ext cx="8825658" cy="930876"/>
          </a:xfrm>
        </p:spPr>
        <p:txBody>
          <a:bodyPr/>
          <a:lstStyle/>
          <a:p>
            <a:r>
              <a:rPr lang="en-US" sz="3200" dirty="0">
                <a:solidFill>
                  <a:schemeClr val="bg2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Title &amp; Project Overview</a:t>
            </a:r>
            <a:endParaRPr lang="ar-SA" sz="3200" dirty="0">
              <a:solidFill>
                <a:schemeClr val="bg2">
                  <a:lumMod val="60000"/>
                  <a:lumOff val="40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01FFE3-961C-369A-8E11-2DDAB8682B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869989"/>
            <a:ext cx="8825658" cy="3768811"/>
          </a:xfrm>
        </p:spPr>
        <p:txBody>
          <a:bodyPr/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Project Title: Automated Gaming Top-Up &amp; Database Management System</a:t>
            </a:r>
          </a:p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​Student Name: Hassan</a:t>
            </a:r>
            <a:endParaRPr lang="ar-SA" dirty="0">
              <a:solidFill>
                <a:schemeClr val="tx1">
                  <a:lumMod val="95000"/>
                </a:schemeClr>
              </a:solidFill>
            </a:endParaRPr>
          </a:p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ID: 31314/2025</a:t>
            </a:r>
          </a:p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​Course Code: Computer Science - Advanced Database Systems</a:t>
            </a:r>
          </a:p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​Supervisor: Dr. Eric</a:t>
            </a:r>
            <a:endParaRPr lang="ar-SA" dirty="0">
              <a:solidFill>
                <a:schemeClr val="tx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04914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EEAA3-0C8A-84A2-6067-E9D448811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Project Objectives &amp; Scope</a:t>
            </a:r>
            <a:endParaRPr lang="ar-SA" dirty="0">
              <a:solidFill>
                <a:schemeClr val="bg2">
                  <a:lumMod val="60000"/>
                  <a:lumOff val="40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3392A-BB59-E0F3-436C-C622734E7F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400" dirty="0">
                <a:latin typeface="Helvetica" panose="020B0604020202020204" pitchFamily="34" charset="0"/>
                <a:cs typeface="Helvetica" panose="020B0604020202020204" pitchFamily="34" charset="0"/>
              </a:rPr>
              <a:t>​Aiming to design and implement a secure, scalable Oracle-based database infrastructure for gaming digital distribution.</a:t>
            </a:r>
          </a:p>
          <a:p>
            <a:pPr algn="l"/>
            <a:r>
              <a:rPr lang="en-US" sz="2400" dirty="0">
                <a:latin typeface="Helvetica" panose="020B0604020202020204" pitchFamily="34" charset="0"/>
                <a:cs typeface="Helvetica" panose="020B0604020202020204" pitchFamily="34" charset="0"/>
              </a:rPr>
              <a:t>​Provides seamless transactional processing for multi-platform game top-ups (PUBG Mobile, Free Fire, Call of Duty).</a:t>
            </a:r>
          </a:p>
          <a:p>
            <a:pPr algn="l"/>
            <a:r>
              <a:rPr lang="en-US" sz="2400" dirty="0">
                <a:latin typeface="Helvetica" panose="020B0604020202020204" pitchFamily="34" charset="0"/>
                <a:cs typeface="Helvetica" panose="020B0604020202020204" pitchFamily="34" charset="0"/>
              </a:rPr>
              <a:t>​Enforces strict computational data integrity, operational holiday tracking, and zero-redundancy normalization</a:t>
            </a:r>
            <a:endParaRPr lang="ar-SA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8993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97409-901E-BDD2-A9A1-89663AB05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Requirements Analysis</a:t>
            </a:r>
            <a:endParaRPr lang="ar-SA" dirty="0">
              <a:solidFill>
                <a:schemeClr val="bg2">
                  <a:lumMod val="60000"/>
                  <a:lumOff val="40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F8B2F-EC16-296B-7B3B-FD2C51AA28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​User Management: Secure profiles for Players containing history tracking and loyalty metadata.</a:t>
            </a:r>
          </a:p>
          <a:p>
            <a:pPr algn="l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​Catalog Control: Dynamically updated pricing logs for specific regional TopUp Items and Games.</a:t>
            </a:r>
          </a:p>
          <a:p>
            <a:pPr algn="l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​Order Execution: Fully automated verification logic managing payment status, order tracking, and public holiday compliance.</a:t>
            </a:r>
            <a:endParaRPr lang="ar-SA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0947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21C3D-83B4-43EB-9A10-7C0CD1D96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76200"/>
            <a:ext cx="6096000" cy="1262743"/>
          </a:xfrm>
        </p:spPr>
        <p:txBody>
          <a:bodyPr/>
          <a:lstStyle/>
          <a:p>
            <a:r>
              <a:rPr lang="en-US" sz="40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Problem Statement &amp; Solutions</a:t>
            </a:r>
            <a:endParaRPr lang="ar-SA" sz="4000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149B1-3213-701D-9A02-8C4D16DB08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489858"/>
            <a:ext cx="11005457" cy="4751614"/>
          </a:xfrm>
        </p:spPr>
        <p:txBody>
          <a:bodyPr>
            <a:normAutofit/>
          </a:bodyPr>
          <a:lstStyle/>
          <a:p>
            <a:pPr algn="l"/>
            <a:r>
              <a:rPr lang="en-US" sz="2000" dirty="0"/>
              <a:t>High Demand: Rapid growth in Rwanda's gaming and esports market for automated digital currency.</a:t>
            </a:r>
          </a:p>
          <a:p>
            <a:pPr algn="l"/>
            <a:r>
              <a:rPr lang="en-US" sz="2000" dirty="0"/>
              <a:t>​Manual Bottlenecks: Heavy reliance on scattered text messages and manual broker verification.</a:t>
            </a:r>
          </a:p>
          <a:p>
            <a:pPr algn="l"/>
            <a:r>
              <a:rPr lang="en-US" sz="2000" dirty="0"/>
              <a:t>​System Risks: Frequent transaction delays, product </a:t>
            </a:r>
            <a:r>
              <a:rPr lang="en-US" sz="2000" dirty="0" err="1"/>
              <a:t>misdelivery</a:t>
            </a:r>
            <a:r>
              <a:rPr lang="en-US" sz="2000" dirty="0"/>
              <a:t>, and critical data loss due to a lack of centralized logs.</a:t>
            </a:r>
          </a:p>
          <a:p>
            <a:pPr algn="l"/>
            <a:r>
              <a:rPr lang="en-US" sz="2000" dirty="0"/>
              <a:t>​The Solution: A secure, automated relational database that ensures instant, error-free game top-ups.</a:t>
            </a:r>
            <a:endParaRPr lang="ar-SA" sz="2000" dirty="0"/>
          </a:p>
        </p:txBody>
      </p:sp>
    </p:spTree>
    <p:extLst>
      <p:ext uri="{BB962C8B-B14F-4D97-AF65-F5344CB8AC3E}">
        <p14:creationId xmlns:p14="http://schemas.microsoft.com/office/powerpoint/2010/main" val="3187921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6AC4E-8CD0-FB68-E00E-9E9DDC89C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77686"/>
            <a:ext cx="5593972" cy="5783492"/>
          </a:xfrm>
        </p:spPr>
        <p:txBody>
          <a:bodyPr/>
          <a:lstStyle/>
          <a:p>
            <a:r>
              <a:rPr lang="en-US" sz="2800" dirty="0"/>
              <a:t>Business Process Modeling: Mapped full operational workflows using structured BPMN </a:t>
            </a:r>
            <a:r>
              <a:rPr lang="en-US" sz="2800" dirty="0" err="1"/>
              <a:t>swimlanes</a:t>
            </a:r>
            <a:r>
              <a:rPr lang="en-US" sz="2800" dirty="0"/>
              <a:t>.</a:t>
            </a:r>
            <a:br>
              <a:rPr lang="en-US" sz="2800" dirty="0"/>
            </a:br>
            <a:r>
              <a:rPr lang="en-US" sz="2800" dirty="0"/>
              <a:t>​Logical Database Design: Developed a comprehensive 5-entity relational schema (Games, Players, TopUp Items, Orders, Holidays).</a:t>
            </a:r>
            <a:br>
              <a:rPr lang="en-US" sz="2800" dirty="0"/>
            </a:br>
            <a:r>
              <a:rPr lang="en-US" sz="2800" dirty="0"/>
              <a:t>​Data Integrity (3NF): Applied complete mathematical normalization up to Third Normal Form (3NF).</a:t>
            </a:r>
            <a:endParaRPr lang="ar-SA" sz="28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B36628-C684-6880-0C1C-D1D9873D8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92352" y="-2590939"/>
            <a:ext cx="4396338" cy="576262"/>
          </a:xfrm>
        </p:spPr>
        <p:txBody>
          <a:bodyPr/>
          <a:lstStyle/>
          <a:p>
            <a:endParaRPr lang="ar-SA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86A2969-8855-A8AD-DB49-19828FF4DAC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1560" y="3756025"/>
            <a:ext cx="5343230" cy="3101975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8C58F3-5308-11CC-8F53-5DDD08542D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0" y="76654"/>
            <a:ext cx="5593972" cy="772432"/>
          </a:xfrm>
        </p:spPr>
        <p:txBody>
          <a:bodyPr/>
          <a:lstStyle/>
          <a:p>
            <a:pPr algn="l"/>
            <a:r>
              <a:rPr lang="en-US" sz="2800" dirty="0"/>
              <a:t>Methodology &amp; Logical Design</a:t>
            </a:r>
            <a:endParaRPr lang="ar-SA" sz="28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69502DD-D0DB-D933-ED80-FE45DCC2B6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1559" y="76200"/>
            <a:ext cx="5343231" cy="3560763"/>
          </a:xfrm>
        </p:spPr>
      </p:pic>
    </p:spTree>
    <p:extLst>
      <p:ext uri="{BB962C8B-B14F-4D97-AF65-F5344CB8AC3E}">
        <p14:creationId xmlns:p14="http://schemas.microsoft.com/office/powerpoint/2010/main" val="87276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FA9E5-B279-FBED-17BB-172C58CA8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95996" cy="1289957"/>
          </a:xfrm>
        </p:spPr>
        <p:txBody>
          <a:bodyPr/>
          <a:lstStyle/>
          <a:p>
            <a:r>
              <a:rPr lang="en-US" sz="36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Physical</a:t>
            </a:r>
            <a:r>
              <a:rPr lang="en-US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Design &amp; Oracle Implementation</a:t>
            </a:r>
            <a:endParaRPr lang="ar-SA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BDAEC7C-5662-5CD8-B39F-406A17A2DE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5663" y="1289957"/>
            <a:ext cx="5356225" cy="4466942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93236E-5CB5-42CD-1B36-E05CC1390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" y="1289957"/>
            <a:ext cx="5355770" cy="5568043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​Transformed logical models into operational SQL deployment packages under Oracle database infrastructure.</a:t>
            </a:r>
          </a:p>
          <a:p>
            <a:pPr algn="l"/>
            <a:r>
              <a:rPr lang="en-US" sz="2800" dirty="0"/>
              <a:t>​Enforced physical relational schema constraints, primary keys (PK), and cross-table foreign keys (FK).</a:t>
            </a:r>
            <a:endParaRPr lang="ar-SA" sz="2800" dirty="0"/>
          </a:p>
        </p:txBody>
      </p:sp>
    </p:spTree>
    <p:extLst>
      <p:ext uri="{BB962C8B-B14F-4D97-AF65-F5344CB8AC3E}">
        <p14:creationId xmlns:p14="http://schemas.microsoft.com/office/powerpoint/2010/main" val="1595320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D87DB-C8F7-0FC8-A26E-BA4659DEC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38" y="109221"/>
            <a:ext cx="4495077" cy="1447800"/>
          </a:xfrm>
        </p:spPr>
        <p:txBody>
          <a:bodyPr/>
          <a:lstStyle/>
          <a:p>
            <a:r>
              <a:rPr lang="en-US" sz="44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Population</a:t>
            </a:r>
            <a:r>
              <a:rPr lang="en-US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of Tables &amp; Test Data</a:t>
            </a:r>
            <a:endParaRPr lang="ar-SA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713C320-51E9-7159-3035-8346F4D118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3886" y="734785"/>
            <a:ext cx="5421934" cy="5421085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792CE0-A0FB-AD15-ACD4-1646B9E35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1557021"/>
            <a:ext cx="4556017" cy="5191758"/>
          </a:xfrm>
        </p:spPr>
        <p:txBody>
          <a:bodyPr>
            <a:normAutofit/>
          </a:bodyPr>
          <a:lstStyle/>
          <a:p>
            <a:pPr algn="l"/>
            <a:r>
              <a:rPr lang="en-US" sz="3200" dirty="0"/>
              <a:t>​Seeded the database with clean, realistic operational records across all relational tables.</a:t>
            </a:r>
          </a:p>
          <a:p>
            <a:pPr algn="l"/>
            <a:r>
              <a:rPr lang="en-US" sz="3200" dirty="0"/>
              <a:t>​Validated referential integrity constraints during bulk data entry and records creation.</a:t>
            </a:r>
            <a:endParaRPr lang="ar-SA" sz="3200" dirty="0"/>
          </a:p>
        </p:txBody>
      </p:sp>
    </p:spTree>
    <p:extLst>
      <p:ext uri="{BB962C8B-B14F-4D97-AF65-F5344CB8AC3E}">
        <p14:creationId xmlns:p14="http://schemas.microsoft.com/office/powerpoint/2010/main" val="1166806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F8A6A-2C2C-9412-2953-E6DFC442B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012871" cy="1447800"/>
          </a:xfrm>
        </p:spPr>
        <p:txBody>
          <a:bodyPr/>
          <a:lstStyle/>
          <a:p>
            <a:r>
              <a:rPr lang="en-US" dirty="0">
                <a:solidFill>
                  <a:schemeClr val="bg2">
                    <a:lumMod val="60000"/>
                    <a:lumOff val="40000"/>
                  </a:schemeClr>
                </a:solidFill>
              </a:rPr>
              <a:t>Queries &amp; Advanced Implementation</a:t>
            </a:r>
            <a:endParaRPr lang="ar-SA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82B729A-4BCD-F2FA-3304-D08AA58BD0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4616" y="723900"/>
            <a:ext cx="5588455" cy="556260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B824C-9741-99B8-48B2-5073B8B05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-1" y="1447800"/>
            <a:ext cx="4784617" cy="4838700"/>
          </a:xfrm>
        </p:spPr>
        <p:txBody>
          <a:bodyPr>
            <a:noAutofit/>
          </a:bodyPr>
          <a:lstStyle/>
          <a:p>
            <a:pPr algn="l"/>
            <a:r>
              <a:rPr lang="en-US" sz="2800" dirty="0"/>
              <a:t>​Developed robust SQL queries utilizing multi-table JOIN statements and conditional data aggregations.</a:t>
            </a:r>
          </a:p>
          <a:p>
            <a:pPr algn="l"/>
            <a:r>
              <a:rPr lang="en-US" sz="2800" dirty="0"/>
              <a:t>​Extended database programming features by implementing custom database PL/SQL Functions and Triggers to automate process flows.</a:t>
            </a:r>
            <a:endParaRPr lang="ar-SA" sz="2800" dirty="0"/>
          </a:p>
        </p:txBody>
      </p:sp>
    </p:spTree>
    <p:extLst>
      <p:ext uri="{BB962C8B-B14F-4D97-AF65-F5344CB8AC3E}">
        <p14:creationId xmlns:p14="http://schemas.microsoft.com/office/powerpoint/2010/main" val="13561726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2E9E0-FF65-9210-AD4C-2733AA9FF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-217350"/>
            <a:ext cx="4784616" cy="1338579"/>
          </a:xfrm>
        </p:spPr>
        <p:txBody>
          <a:bodyPr/>
          <a:lstStyle/>
          <a:p>
            <a:r>
              <a:rPr lang="en-US" dirty="0">
                <a:solidFill>
                  <a:schemeClr val="bg2">
                    <a:lumMod val="60000"/>
                    <a:lumOff val="40000"/>
                  </a:schemeClr>
                </a:solidFill>
              </a:rPr>
              <a:t>Innovation Component (Power BI Dashboard)</a:t>
            </a:r>
            <a:endParaRPr lang="ar-SA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F5BB4-8DA6-19C7-868A-8E960560A0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1447800"/>
            <a:ext cx="4784615" cy="5300979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​Integrated the system's operational backend dataset with Microsoft Power BI for live executive business intelligence.</a:t>
            </a:r>
          </a:p>
          <a:p>
            <a:pPr algn="l"/>
            <a:r>
              <a:rPr lang="en-US" sz="2800" dirty="0"/>
              <a:t>​Generates real-time analytical insights tracking total revenue and revenue distribution across active titles.</a:t>
            </a:r>
            <a:endParaRPr lang="ar-SA" sz="2800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D6263E9-E042-19C7-88EF-914C46CD00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4724" y="1216550"/>
            <a:ext cx="7407275" cy="4635609"/>
          </a:xfrm>
        </p:spPr>
      </p:pic>
    </p:spTree>
    <p:extLst>
      <p:ext uri="{BB962C8B-B14F-4D97-AF65-F5344CB8AC3E}">
        <p14:creationId xmlns:p14="http://schemas.microsoft.com/office/powerpoint/2010/main" val="7929185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3143D-707A-EA1F-27D4-BA2C07735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8825659" cy="1981200"/>
          </a:xfrm>
        </p:spPr>
        <p:txBody>
          <a:bodyPr/>
          <a:lstStyle/>
          <a:p>
            <a:r>
              <a:rPr lang="en-US" dirty="0">
                <a:solidFill>
                  <a:schemeClr val="bg2">
                    <a:lumMod val="60000"/>
                    <a:lumOff val="40000"/>
                  </a:schemeClr>
                </a:solidFill>
              </a:rPr>
              <a:t>Conclusion &amp; Future Enhancements</a:t>
            </a:r>
            <a:endParaRPr lang="ar-SA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BAE29A-9D32-F491-96D5-6BAD9E9C4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1649185"/>
            <a:ext cx="9980613" cy="3004457"/>
          </a:xfrm>
        </p:spPr>
        <p:txBody>
          <a:bodyPr>
            <a:normAutofit/>
          </a:bodyPr>
          <a:lstStyle/>
          <a:p>
            <a:pPr algn="l"/>
            <a:r>
              <a:rPr lang="en-US" sz="2400" dirty="0"/>
              <a:t>​Conclusion: Designed and fully implemented a production-ready, fully normalized (3NF) relational database for automated game top-ups under Oracle environment.</a:t>
            </a:r>
          </a:p>
          <a:p>
            <a:pPr algn="l"/>
            <a:r>
              <a:rPr lang="en-US" sz="2400" dirty="0"/>
              <a:t>​Future Work: Planning to deploy a live web front-end application interface and integrate direct automated payment gateways (Visa/Mastercard/Apple Pay).</a:t>
            </a:r>
            <a:endParaRPr lang="ar-SA" sz="2400" dirty="0"/>
          </a:p>
        </p:txBody>
      </p:sp>
    </p:spTree>
    <p:extLst>
      <p:ext uri="{BB962C8B-B14F-4D97-AF65-F5344CB8AC3E}">
        <p14:creationId xmlns:p14="http://schemas.microsoft.com/office/powerpoint/2010/main" val="139216340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1659</TotalTime>
  <Words>488</Words>
  <Application>Microsoft Office PowerPoint</Application>
  <PresentationFormat>Widescreen</PresentationFormat>
  <Paragraphs>36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Century Gothic</vt:lpstr>
      <vt:lpstr>Helvetica</vt:lpstr>
      <vt:lpstr>Wingdings 3</vt:lpstr>
      <vt:lpstr>Ion</vt:lpstr>
      <vt:lpstr>Title &amp; Project Overview</vt:lpstr>
      <vt:lpstr>Project Objectives &amp; Scope</vt:lpstr>
      <vt:lpstr>Requirements Analysis</vt:lpstr>
      <vt:lpstr>Problem Statement &amp; Solutions</vt:lpstr>
      <vt:lpstr>Business Process Modeling: Mapped full operational workflows using structured BPMN swimlanes. ​Logical Database Design: Developed a comprehensive 5-entity relational schema (Games, Players, TopUp Items, Orders, Holidays). ​Data Integrity (3NF): Applied complete mathematical normalization up to Third Normal Form (3NF).</vt:lpstr>
      <vt:lpstr>Physical Design &amp; Oracle Implementation</vt:lpstr>
      <vt:lpstr>Population of Tables &amp; Test Data</vt:lpstr>
      <vt:lpstr>Queries &amp; Advanced Implementation</vt:lpstr>
      <vt:lpstr>Innovation Component (Power BI Dashboard)</vt:lpstr>
      <vt:lpstr>Conclusion &amp; Future Enhancements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hassan saber</dc:creator>
  <cp:lastModifiedBy>hassan saber</cp:lastModifiedBy>
  <cp:revision>2</cp:revision>
  <dcterms:created xsi:type="dcterms:W3CDTF">2026-07-13T18:47:34Z</dcterms:created>
  <dcterms:modified xsi:type="dcterms:W3CDTF">2026-07-14T22:27:17Z</dcterms:modified>
</cp:coreProperties>
</file>